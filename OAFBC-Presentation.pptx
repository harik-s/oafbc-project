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D4FF4-BB54-C405-1DB1-BD9B3185F0DE}" v="579" dt="2025-12-02T13:44:22.617"/>
    <p1510:client id="{B671F2E0-87E5-95E5-9AD5-41C684BFF032}" v="53" dt="2025-12-02T14:16:18.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639B12-CF30-48F6-ABEE-7F1EB15CFB2D}" type="datetimeFigureOut">
              <a:rPr lang="en-GB" smtClean="0"/>
              <a:t>13/06/2026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4497A-FC7D-41C0-B480-7DA3F97102C2}" type="slidenum">
              <a:rPr lang="en-GB" smtClean="0"/>
              <a:t>‹#›</a:t>
            </a:fld>
            <a:endParaRPr lang="en-GB"/>
          </a:p>
        </p:txBody>
      </p:sp>
    </p:spTree>
    <p:extLst>
      <p:ext uri="{BB962C8B-B14F-4D97-AF65-F5344CB8AC3E}">
        <p14:creationId xmlns:p14="http://schemas.microsoft.com/office/powerpoint/2010/main" val="171629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project is a game that involves market making against a certain number of players who are all playing the game from the first session of this bootcamp. </a:t>
            </a:r>
          </a:p>
          <a:p>
            <a:r>
              <a:rPr lang="en-GB"/>
              <a:t>The players are made up of optimal players, who calculate the expected value and trade based on this; sub optimal players whose EV calculation is subject to some random noise; and insider traders who know information in advance.</a:t>
            </a:r>
          </a:p>
          <a:p>
            <a:r>
              <a:rPr lang="en-GB"/>
              <a:t>The goal is to maximise profit at the end of it.</a:t>
            </a:r>
          </a:p>
          <a:p>
            <a:r>
              <a:rPr lang="en-GB"/>
              <a:t>As many of you know from when we played this game, the score in the middle is very dependent on individual cards, and thus hedging your position is very important to not be exposed to this risk.</a:t>
            </a:r>
          </a:p>
        </p:txBody>
      </p:sp>
      <p:sp>
        <p:nvSpPr>
          <p:cNvPr id="4" name="Slide Number Placeholder 3"/>
          <p:cNvSpPr>
            <a:spLocks noGrp="1"/>
          </p:cNvSpPr>
          <p:nvPr>
            <p:ph type="sldNum" sz="quarter" idx="5"/>
          </p:nvPr>
        </p:nvSpPr>
        <p:spPr/>
        <p:txBody>
          <a:bodyPr/>
          <a:lstStyle/>
          <a:p>
            <a:fld id="{B434497A-FC7D-41C0-B480-7DA3F97102C2}" type="slidenum">
              <a:rPr lang="en-GB" smtClean="0"/>
              <a:t>2</a:t>
            </a:fld>
            <a:endParaRPr lang="en-GB"/>
          </a:p>
        </p:txBody>
      </p:sp>
    </p:spTree>
    <p:extLst>
      <p:ext uri="{BB962C8B-B14F-4D97-AF65-F5344CB8AC3E}">
        <p14:creationId xmlns:p14="http://schemas.microsoft.com/office/powerpoint/2010/main" val="1289330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Here are the rules of the game. In this version however, the number of rounds (number of cards in the middle) is a variable. Also, it is possible to have more than 1 deck, and this is also a variable that can be changed by the user.</a:t>
            </a:r>
          </a:p>
          <a:p>
            <a:r>
              <a:rPr lang="en-GB"/>
              <a:t>Also, no trader is forced to trade, which prevents the strategy of having a very large spread and profiting that way.</a:t>
            </a:r>
          </a:p>
        </p:txBody>
      </p:sp>
      <p:sp>
        <p:nvSpPr>
          <p:cNvPr id="4" name="Slide Number Placeholder 3"/>
          <p:cNvSpPr>
            <a:spLocks noGrp="1"/>
          </p:cNvSpPr>
          <p:nvPr>
            <p:ph type="sldNum" sz="quarter" idx="5"/>
          </p:nvPr>
        </p:nvSpPr>
        <p:spPr/>
        <p:txBody>
          <a:bodyPr/>
          <a:lstStyle/>
          <a:p>
            <a:fld id="{B434497A-FC7D-41C0-B480-7DA3F97102C2}" type="slidenum">
              <a:rPr lang="en-GB" smtClean="0"/>
              <a:t>3</a:t>
            </a:fld>
            <a:endParaRPr lang="en-GB"/>
          </a:p>
        </p:txBody>
      </p:sp>
    </p:spTree>
    <p:extLst>
      <p:ext uri="{BB962C8B-B14F-4D97-AF65-F5344CB8AC3E}">
        <p14:creationId xmlns:p14="http://schemas.microsoft.com/office/powerpoint/2010/main" val="1196711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There are many different strategies, and each has their advantages and disadvantages. The issue with a large spread is that nobody trades, which then prevents you from making any material profit. Having a small spread firstly means your profit per 2 opposing trades is quite low. It also means that you could have a non zero delta, because the traders may have a different idea of what the expected value is.</a:t>
            </a:r>
          </a:p>
          <a:p>
            <a:r>
              <a:rPr lang="en-GB"/>
              <a:t>Furthermore, you may aim to make the spread asymmetric on purpose in order to move towards a hedged position.</a:t>
            </a:r>
          </a:p>
        </p:txBody>
      </p:sp>
      <p:sp>
        <p:nvSpPr>
          <p:cNvPr id="4" name="Slide Number Placeholder 3"/>
          <p:cNvSpPr>
            <a:spLocks noGrp="1"/>
          </p:cNvSpPr>
          <p:nvPr>
            <p:ph type="sldNum" sz="quarter" idx="5"/>
          </p:nvPr>
        </p:nvSpPr>
        <p:spPr/>
        <p:txBody>
          <a:bodyPr/>
          <a:lstStyle/>
          <a:p>
            <a:fld id="{B434497A-FC7D-41C0-B480-7DA3F97102C2}" type="slidenum">
              <a:rPr lang="en-GB" smtClean="0"/>
              <a:t>4</a:t>
            </a:fld>
            <a:endParaRPr lang="en-GB"/>
          </a:p>
        </p:txBody>
      </p:sp>
    </p:spTree>
    <p:extLst>
      <p:ext uri="{BB962C8B-B14F-4D97-AF65-F5344CB8AC3E}">
        <p14:creationId xmlns:p14="http://schemas.microsoft.com/office/powerpoint/2010/main" val="2081324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2816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26945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9075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0409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6/13/2026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3809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6/13/2026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5492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6/13/2026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37609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6/13/2026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84554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6/13/2026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29484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61860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5869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6/13/2026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77055131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D0712D3-BAB0-8B54-047C-E465DE05EA62}"/>
              </a:ext>
            </a:extLst>
          </p:cNvPr>
          <p:cNvPicPr>
            <a:picLocks noChangeAspect="1"/>
          </p:cNvPicPr>
          <p:nvPr/>
        </p:nvPicPr>
        <p:blipFill>
          <a:blip r:embed="rId2"/>
          <a:srcRect t="8274" r="2" b="6870"/>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11" name="Freeform: Shape 10">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170087-2535-8133-B6CD-26E65723A594}"/>
              </a:ext>
            </a:extLst>
          </p:cNvPr>
          <p:cNvSpPr>
            <a:spLocks noGrp="1"/>
          </p:cNvSpPr>
          <p:nvPr>
            <p:ph type="ctrTitle"/>
          </p:nvPr>
        </p:nvSpPr>
        <p:spPr>
          <a:xfrm>
            <a:off x="477981" y="1122363"/>
            <a:ext cx="4023360" cy="3204134"/>
          </a:xfrm>
        </p:spPr>
        <p:txBody>
          <a:bodyPr anchor="b">
            <a:normAutofit/>
          </a:bodyPr>
          <a:lstStyle/>
          <a:p>
            <a:r>
              <a:rPr lang="en-GB" sz="4800"/>
              <a:t>Trading Simulation Game</a:t>
            </a:r>
          </a:p>
        </p:txBody>
      </p:sp>
      <p:sp>
        <p:nvSpPr>
          <p:cNvPr id="3" name="Subtitle 2">
            <a:extLst>
              <a:ext uri="{FF2B5EF4-FFF2-40B4-BE49-F238E27FC236}">
                <a16:creationId xmlns:a16="http://schemas.microsoft.com/office/drawing/2014/main" id="{1C779D14-91D4-9834-4D7D-2206910972B7}"/>
              </a:ext>
            </a:extLst>
          </p:cNvPr>
          <p:cNvSpPr>
            <a:spLocks noGrp="1"/>
          </p:cNvSpPr>
          <p:nvPr>
            <p:ph type="subTitle" idx="1"/>
          </p:nvPr>
        </p:nvSpPr>
        <p:spPr>
          <a:xfrm>
            <a:off x="477981" y="4872922"/>
            <a:ext cx="3933306" cy="1208141"/>
          </a:xfrm>
        </p:spPr>
        <p:txBody>
          <a:bodyPr>
            <a:normAutofit/>
          </a:bodyPr>
          <a:lstStyle/>
          <a:p>
            <a:r>
              <a:rPr lang="en-GB" sz="2000"/>
              <a:t>Arminas, Callum, Harik, Pal</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961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1734-8C4C-D799-3B95-F459535CCCB2}"/>
              </a:ext>
            </a:extLst>
          </p:cNvPr>
          <p:cNvSpPr>
            <a:spLocks noGrp="1"/>
          </p:cNvSpPr>
          <p:nvPr>
            <p:ph type="title"/>
          </p:nvPr>
        </p:nvSpPr>
        <p:spPr/>
        <p:txBody>
          <a:bodyPr/>
          <a:lstStyle/>
          <a:p>
            <a:r>
              <a:rPr lang="en-GB"/>
              <a:t>Introduction</a:t>
            </a:r>
          </a:p>
        </p:txBody>
      </p:sp>
      <p:sp>
        <p:nvSpPr>
          <p:cNvPr id="3" name="Content Placeholder 2">
            <a:extLst>
              <a:ext uri="{FF2B5EF4-FFF2-40B4-BE49-F238E27FC236}">
                <a16:creationId xmlns:a16="http://schemas.microsoft.com/office/drawing/2014/main" id="{2623A082-C0DC-A50A-4D32-8DBF1679C490}"/>
              </a:ext>
            </a:extLst>
          </p:cNvPr>
          <p:cNvSpPr>
            <a:spLocks noGrp="1"/>
          </p:cNvSpPr>
          <p:nvPr>
            <p:ph idx="1"/>
          </p:nvPr>
        </p:nvSpPr>
        <p:spPr>
          <a:xfrm>
            <a:off x="1010793" y="1716024"/>
            <a:ext cx="10168128" cy="1627251"/>
          </a:xfrm>
        </p:spPr>
        <p:txBody>
          <a:bodyPr vert="horz" lIns="91440" tIns="45720" rIns="91440" bIns="45720" rtlCol="0" anchor="t">
            <a:normAutofit/>
          </a:bodyPr>
          <a:lstStyle/>
          <a:p>
            <a:r>
              <a:rPr lang="en-GB"/>
              <a:t>We simulate the game we played in week 1</a:t>
            </a:r>
          </a:p>
          <a:p>
            <a:r>
              <a:rPr lang="en-GB"/>
              <a:t>We act as the market maker for other players who are 'optimal', 'suboptimal' and 'insider' traders.</a:t>
            </a:r>
          </a:p>
        </p:txBody>
      </p:sp>
      <p:pic>
        <p:nvPicPr>
          <p:cNvPr id="5" name="Picture 4">
            <a:extLst>
              <a:ext uri="{FF2B5EF4-FFF2-40B4-BE49-F238E27FC236}">
                <a16:creationId xmlns:a16="http://schemas.microsoft.com/office/drawing/2014/main" id="{0B125108-BEEE-B4CC-6C67-5824FF39F305}"/>
              </a:ext>
            </a:extLst>
          </p:cNvPr>
          <p:cNvPicPr>
            <a:picLocks noChangeAspect="1"/>
          </p:cNvPicPr>
          <p:nvPr/>
        </p:nvPicPr>
        <p:blipFill>
          <a:blip r:embed="rId3"/>
          <a:stretch>
            <a:fillRect/>
          </a:stretch>
        </p:blipFill>
        <p:spPr>
          <a:xfrm>
            <a:off x="0" y="4002009"/>
            <a:ext cx="12192000" cy="2855991"/>
          </a:xfrm>
          <a:prstGeom prst="rect">
            <a:avLst/>
          </a:prstGeom>
        </p:spPr>
      </p:pic>
    </p:spTree>
    <p:extLst>
      <p:ext uri="{BB962C8B-B14F-4D97-AF65-F5344CB8AC3E}">
        <p14:creationId xmlns:p14="http://schemas.microsoft.com/office/powerpoint/2010/main" val="337270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7C768B-7CE6-8349-7458-1B63D15A0E68}"/>
              </a:ext>
            </a:extLst>
          </p:cNvPr>
          <p:cNvPicPr>
            <a:picLocks noChangeAspect="1"/>
          </p:cNvPicPr>
          <p:nvPr/>
        </p:nvPicPr>
        <p:blipFill>
          <a:blip r:embed="rId3"/>
          <a:stretch>
            <a:fillRect/>
          </a:stretch>
        </p:blipFill>
        <p:spPr>
          <a:xfrm>
            <a:off x="909303" y="326461"/>
            <a:ext cx="10724228" cy="6193632"/>
          </a:xfrm>
          <a:prstGeom prst="rect">
            <a:avLst/>
          </a:prstGeom>
        </p:spPr>
      </p:pic>
      <p:sp>
        <p:nvSpPr>
          <p:cNvPr id="2" name="Title 1">
            <a:extLst>
              <a:ext uri="{FF2B5EF4-FFF2-40B4-BE49-F238E27FC236}">
                <a16:creationId xmlns:a16="http://schemas.microsoft.com/office/drawing/2014/main" id="{DEDCF2DD-D43C-D67A-837E-49B4374D7702}"/>
              </a:ext>
            </a:extLst>
          </p:cNvPr>
          <p:cNvSpPr>
            <a:spLocks noGrp="1"/>
          </p:cNvSpPr>
          <p:nvPr>
            <p:ph type="title"/>
          </p:nvPr>
        </p:nvSpPr>
        <p:spPr/>
        <p:txBody>
          <a:bodyPr/>
          <a:lstStyle/>
          <a:p>
            <a:r>
              <a:rPr lang="en-GB"/>
              <a:t>Comparison to original game</a:t>
            </a:r>
          </a:p>
        </p:txBody>
      </p:sp>
    </p:spTree>
    <p:extLst>
      <p:ext uri="{BB962C8B-B14F-4D97-AF65-F5344CB8AC3E}">
        <p14:creationId xmlns:p14="http://schemas.microsoft.com/office/powerpoint/2010/main" val="3856479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710834-8F2A-D4DA-DB35-35A045CE9242}"/>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a:t>Simulation observations</a:t>
            </a:r>
          </a:p>
        </p:txBody>
      </p:sp>
      <p:sp>
        <p:nvSpPr>
          <p:cNvPr id="22" name="Rectangle: Rounded Corners 21">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4" name="Content Placeholder 3">
            <a:extLst>
              <a:ext uri="{FF2B5EF4-FFF2-40B4-BE49-F238E27FC236}">
                <a16:creationId xmlns:a16="http://schemas.microsoft.com/office/drawing/2014/main" id="{57FBC8DB-E0DB-0513-6B9D-6EF8A2A13987}"/>
              </a:ext>
            </a:extLst>
          </p:cNvPr>
          <p:cNvSpPr>
            <a:spLocks noGrp="1"/>
          </p:cNvSpPr>
          <p:nvPr>
            <p:ph idx="1"/>
          </p:nvPr>
        </p:nvSpPr>
        <p:spPr/>
        <p:txBody>
          <a:bodyPr vert="horz" lIns="91440" tIns="45720" rIns="91440" bIns="45720" rtlCol="0" anchor="t">
            <a:normAutofit lnSpcReduction="10000"/>
          </a:bodyPr>
          <a:lstStyle/>
          <a:p>
            <a:r>
              <a:rPr lang="en-GB"/>
              <a:t>Most profitable with sub-optimal players</a:t>
            </a:r>
          </a:p>
          <a:p>
            <a:r>
              <a:rPr lang="en-GB"/>
              <a:t>Essentially 50-50 when playing against suboptimal players</a:t>
            </a:r>
          </a:p>
          <a:p>
            <a:r>
              <a:rPr lang="en-GB"/>
              <a:t>Virtually impossible to win long term against insider players</a:t>
            </a:r>
          </a:p>
          <a:p>
            <a:r>
              <a:rPr lang="en-GB"/>
              <a:t>Knowing the ratio optimal : sub-optimal : insider effects how we play the game</a:t>
            </a:r>
          </a:p>
          <a:p>
            <a:r>
              <a:rPr lang="en-GB"/>
              <a:t>Knowing number of insiders gives us an edge over optimal players</a:t>
            </a:r>
          </a:p>
          <a:p>
            <a:endParaRPr lang="en-GB"/>
          </a:p>
        </p:txBody>
      </p:sp>
    </p:spTree>
    <p:extLst>
      <p:ext uri="{BB962C8B-B14F-4D97-AF65-F5344CB8AC3E}">
        <p14:creationId xmlns:p14="http://schemas.microsoft.com/office/powerpoint/2010/main" val="1272809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33686-D102-A695-D743-E0AEE3292D53}"/>
              </a:ext>
            </a:extLst>
          </p:cNvPr>
          <p:cNvSpPr>
            <a:spLocks noGrp="1"/>
          </p:cNvSpPr>
          <p:nvPr>
            <p:ph type="title"/>
          </p:nvPr>
        </p:nvSpPr>
        <p:spPr/>
        <p:txBody>
          <a:bodyPr/>
          <a:lstStyle/>
          <a:p>
            <a:r>
              <a:rPr lang="en-GB"/>
              <a:t>DEMO</a:t>
            </a:r>
          </a:p>
        </p:txBody>
      </p:sp>
      <p:sp>
        <p:nvSpPr>
          <p:cNvPr id="3" name="Content Placeholder 2">
            <a:extLst>
              <a:ext uri="{FF2B5EF4-FFF2-40B4-BE49-F238E27FC236}">
                <a16:creationId xmlns:a16="http://schemas.microsoft.com/office/drawing/2014/main" id="{DB627CB2-8D3C-5B71-0D56-CB3366E58B8D}"/>
              </a:ext>
            </a:extLst>
          </p:cNvPr>
          <p:cNvSpPr>
            <a:spLocks noGrp="1"/>
          </p:cNvSpPr>
          <p:nvPr>
            <p:ph idx="1"/>
          </p:nvPr>
        </p:nvSpPr>
        <p:spPr/>
        <p:txBody>
          <a:bodyPr vert="horz" lIns="91440" tIns="45720" rIns="91440" bIns="45720" rtlCol="0" anchor="t">
            <a:normAutofit/>
          </a:bodyPr>
          <a:lstStyle/>
          <a:p>
            <a:pPr marL="0" indent="0">
              <a:buNone/>
            </a:pPr>
            <a:endParaRPr lang="en-GB"/>
          </a:p>
          <a:p>
            <a:endParaRPr lang="en-GB"/>
          </a:p>
        </p:txBody>
      </p:sp>
    </p:spTree>
    <p:extLst>
      <p:ext uri="{BB962C8B-B14F-4D97-AF65-F5344CB8AC3E}">
        <p14:creationId xmlns:p14="http://schemas.microsoft.com/office/powerpoint/2010/main" val="920347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3B05-04DE-7597-05E9-411AEC0EBE52}"/>
              </a:ext>
            </a:extLst>
          </p:cNvPr>
          <p:cNvSpPr>
            <a:spLocks noGrp="1"/>
          </p:cNvSpPr>
          <p:nvPr>
            <p:ph type="title"/>
          </p:nvPr>
        </p:nvSpPr>
        <p:spPr/>
        <p:txBody>
          <a:bodyPr/>
          <a:lstStyle/>
          <a:p>
            <a:r>
              <a:rPr lang="en-GB"/>
              <a:t>Extension Ideas</a:t>
            </a:r>
          </a:p>
        </p:txBody>
      </p:sp>
      <p:sp>
        <p:nvSpPr>
          <p:cNvPr id="3" name="Content Placeholder 2">
            <a:extLst>
              <a:ext uri="{FF2B5EF4-FFF2-40B4-BE49-F238E27FC236}">
                <a16:creationId xmlns:a16="http://schemas.microsoft.com/office/drawing/2014/main" id="{254F9021-8B33-33A9-D051-5DB18CBE944D}"/>
              </a:ext>
            </a:extLst>
          </p:cNvPr>
          <p:cNvSpPr>
            <a:spLocks noGrp="1"/>
          </p:cNvSpPr>
          <p:nvPr>
            <p:ph idx="1"/>
          </p:nvPr>
        </p:nvSpPr>
        <p:spPr/>
        <p:txBody>
          <a:bodyPr vert="horz" lIns="91440" tIns="45720" rIns="91440" bIns="45720" rtlCol="0" anchor="t">
            <a:normAutofit/>
          </a:bodyPr>
          <a:lstStyle/>
          <a:p>
            <a:r>
              <a:rPr lang="en-GB"/>
              <a:t> Use skewed distributions for sub-optimal players to model market sentiments</a:t>
            </a:r>
          </a:p>
          <a:p>
            <a:r>
              <a:rPr lang="en-US"/>
              <a:t>Simulations in which the ratio of player types is unknown to the user</a:t>
            </a:r>
          </a:p>
          <a:p>
            <a:r>
              <a:rPr lang="en-US"/>
              <a:t>Noise in the sub optimal player decisions being a variable, not just a constant</a:t>
            </a:r>
          </a:p>
          <a:p>
            <a:endParaRPr lang="en-US"/>
          </a:p>
          <a:p>
            <a:endParaRPr lang="en-GB"/>
          </a:p>
          <a:p>
            <a:endParaRPr lang="en-GB"/>
          </a:p>
        </p:txBody>
      </p:sp>
    </p:spTree>
    <p:extLst>
      <p:ext uri="{BB962C8B-B14F-4D97-AF65-F5344CB8AC3E}">
        <p14:creationId xmlns:p14="http://schemas.microsoft.com/office/powerpoint/2010/main" val="374322317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FAD91537F31748901E576201E8E7DA" ma:contentTypeVersion="9" ma:contentTypeDescription="Create a new document." ma:contentTypeScope="" ma:versionID="955fa632a093fe824cffecc2d1afb362">
  <xsd:schema xmlns:xsd="http://www.w3.org/2001/XMLSchema" xmlns:xs="http://www.w3.org/2001/XMLSchema" xmlns:p="http://schemas.microsoft.com/office/2006/metadata/properties" xmlns:ns3="3756c7d6-234b-46c2-9650-937e48813c95" targetNamespace="http://schemas.microsoft.com/office/2006/metadata/properties" ma:root="true" ma:fieldsID="0f0fbbeb84667d37967dc6977513a72b" ns3:_="">
    <xsd:import namespace="3756c7d6-234b-46c2-9650-937e48813c9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56c7d6-234b-46c2-9650-937e48813c9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7846CC-8765-49CC-A36A-94FBF41FF70E}">
  <ds:schemaRefs>
    <ds:schemaRef ds:uri="3756c7d6-234b-46c2-9650-937e48813c9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9E12FFC-B6BC-4CD7-8B6F-4C3804A0CED9}">
  <ds:schemaRefs>
    <ds:schemaRef ds:uri="http://schemas.microsoft.com/sharepoint/v3/contenttype/forms"/>
  </ds:schemaRefs>
</ds:datastoreItem>
</file>

<file path=customXml/itemProps3.xml><?xml version="1.0" encoding="utf-8"?>
<ds:datastoreItem xmlns:ds="http://schemas.openxmlformats.org/officeDocument/2006/customXml" ds:itemID="{E4C3DE3D-26DF-4322-83EC-1B9A309249F3}">
  <ds:schemaRefs>
    <ds:schemaRef ds:uri="3756c7d6-234b-46c2-9650-937e48813c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3</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AccentBoxVTI</vt:lpstr>
      <vt:lpstr>Trading Simulation Game</vt:lpstr>
      <vt:lpstr>Introduction</vt:lpstr>
      <vt:lpstr>Comparison to original game</vt:lpstr>
      <vt:lpstr>Simulation observations</vt:lpstr>
      <vt:lpstr>DEMO</vt:lpstr>
      <vt:lpstr>Extension Ideas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 Sodhi</dc:creator>
  <cp:revision>2</cp:revision>
  <dcterms:created xsi:type="dcterms:W3CDTF">2025-12-02T05:35:03Z</dcterms:created>
  <dcterms:modified xsi:type="dcterms:W3CDTF">2026-06-13T12:52:24Z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0x010100A3FAD91537F31748901E576201E8E7DA</vt:lpwstr>
  </property>
</Properties>
</file>